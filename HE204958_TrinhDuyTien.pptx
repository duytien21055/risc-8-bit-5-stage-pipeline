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2"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2C1CBAB-D7C6-F36A-0EEE-36C76C4A3532}">
          <p14:sldIdLst>
            <p14:sldId id="256"/>
            <p14:sldId id="257"/>
          </p14:sldIdLst>
        </p14:section>
        <p14:section name="Instruction set" id="{150B6210-31EC-2709-BB66-05FE9B86DE65}">
          <p14:sldIdLst>
            <p14:sldId id="259"/>
            <p14:sldId id="260"/>
          </p14:sldIdLst>
        </p14:section>
        <p14:section name="Pipeline architecture" id="{8150BC6A-BADA-87AB-F80A-4086F0C51C09}">
          <p14:sldIdLst>
            <p14:sldId id="261"/>
            <p14:sldId id="262"/>
            <p14:sldId id="263"/>
          </p14:sldIdLst>
        </p14:section>
        <p14:section name="Hazards" id="{CA333744-6CF7-DF75-3DE1-7765F371C99C}">
          <p14:sldIdLst/>
        </p14:section>
        <p14:section name="Verification" id="{8393675E-76ED-1ACD-514C-BA7038C1E078}">
          <p14:sldIdLst/>
        </p14:section>
        <p14:section name="Conclusion" id="{E7BC3509-3F56-403B-CA08-D9D14C173F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10"/>
  </p:normalViewPr>
  <p:slideViewPr>
    <p:cSldViewPr snapToGrid="0" snapToObjects="1">
      <p:cViewPr>
        <p:scale>
          <a:sx n="125" d="100"/>
          <a:sy n="125" d="100"/>
        </p:scale>
        <p:origin x="1332"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282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8-bit RISC processor core with a classic 5-stage pipeline (IF, ID, EX, MEM, WB), written in Verilog and verified in simulation and synthesis with Vivado.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a complete 8-bit RISC core that simulates, synthesizes and can run on a Xilinx FPGA. Point out the Harvard architecture: the instruction ROM and the data RAM are separate memories, so fetch and memory access never compete.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opcode is always the top 4 bits and rd sits in the same place in every format, so the decoder can read the fields before it even knows which instruction it is. NOP and HLT use only the opcode.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arithmetic and logic, shifts, load and memory, and control. Z and C are updated by arithmetic, logic, shift and ADDI instructions. BZ and BNZ read flag Z, which is how loops and if-statements are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work on five different instructions, like an assembly line. From cycle 5 on, one instruction completes every cycle. The latency of one instruction is still 5 cycles, but throughput approaches one instruction per cycle.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pipeline registers (IF/ID, ID/EX, EX/MEM, MEM/WB) sit between the five stages. The hazard unit compares register numbers across stages to choose the forwarding source and to decide whether to stall. Branches are decided in EX, so the flags are always up to 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unit is a pure combinational lookup table; every signal defaults to 0, which is a NOP. Signals are decoded in ID but used later, so they travel with their instruction through the pipeline registers: EX signals are used in stage 3, MEM signals in stage 4 and WB signals in stage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640080"/>
            <a:ext cx="804672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548640" y="2514600"/>
            <a:ext cx="8046720" cy="7315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marL="0" indent="0" algn="l">
              <a:buNone/>
            </a:pPr>
            <a:r>
              <a:rPr lang="en-US" sz="1000" dirty="0">
                <a:solidFill>
                  <a:schemeClr val="accent6"/>
                </a:solidFill>
              </a:rPr>
              <a:t>8-bit RISC CPU · 5-stage pipeline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320040"/>
            <a:ext cx="8229600"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640080"/>
            <a:ext cx="8046720" cy="1737360"/>
          </a:xfrm>
          <a:prstGeom prst="rect">
            <a:avLst/>
          </a:prstGeom>
          <a:noFill/>
          <a:ln/>
        </p:spPr>
        <p:txBody>
          <a:bodyPr wrap="square" lIns="0" tIns="0" rIns="0" bIns="0" rtlCol="0" anchor="b"/>
          <a:lstStyle/>
          <a:p>
            <a:pPr marL="0" indent="0" algn="l">
              <a:buNone/>
            </a:pPr>
            <a:r>
              <a:rPr lang="en-US" sz="4400" b="1" dirty="0">
                <a:solidFill>
                  <a:schemeClr val="bg1"/>
                </a:solidFill>
              </a:rPr>
              <a:t>8-bit RISC CPU</a:t>
            </a:r>
            <a:endParaRPr lang="en-US" sz="4400" dirty="0"/>
          </a:p>
          <a:p>
            <a:pPr marL="0" indent="0" algn="l">
              <a:buNone/>
            </a:pPr>
            <a:r>
              <a:rPr lang="en-US" sz="4400" b="1" dirty="0">
                <a:solidFill>
                  <a:schemeClr val="bg1"/>
                </a:solidFill>
              </a:rPr>
              <a:t>with a 5-stage pipeline</a:t>
            </a:r>
            <a:endParaRPr lang="en-US" sz="4400" dirty="0"/>
          </a:p>
        </p:txBody>
      </p:sp>
      <p:sp>
        <p:nvSpPr>
          <p:cNvPr id="3" name="Text 1"/>
          <p:cNvSpPr>
            <a:spLocks noGrp="1"/>
          </p:cNvSpPr>
          <p:nvPr>
            <p:ph type="body" idx="102" hasCustomPrompt="1"/>
          </p:nvPr>
        </p:nvSpPr>
        <p:spPr>
          <a:xfrm>
            <a:off x="548640" y="2514600"/>
            <a:ext cx="8046720" cy="731520"/>
          </a:xfrm>
          <a:prstGeom prst="rect">
            <a:avLst/>
          </a:prstGeom>
          <a:noFill/>
          <a:ln/>
        </p:spPr>
        <p:txBody>
          <a:bodyPr wrap="square" lIns="0" tIns="0" rIns="0" bIns="0" rtlCol="0" anchor="t"/>
          <a:lstStyle/>
          <a:p>
            <a:pPr marL="0" indent="0">
              <a:buNone/>
            </a:pPr>
            <a:r>
              <a:rPr lang="en-US" sz="1800" dirty="0">
                <a:solidFill>
                  <a:schemeClr val="bg2"/>
                </a:solidFill>
              </a:rPr>
              <a:t>Designed in Verilog · simulated and implemented in Vivado</a:t>
            </a:r>
            <a:endParaRPr lang="en-US" sz="1800" dirty="0"/>
          </a:p>
        </p:txBody>
      </p:sp>
      <p:sp>
        <p:nvSpPr>
          <p:cNvPr id="4" name="stage-chip"/>
          <p:cNvSpPr txBox="1"/>
          <p:nvPr/>
        </p:nvSpPr>
        <p:spPr>
          <a:xfrm>
            <a:off x="548640" y="3657600"/>
            <a:ext cx="1463040" cy="822960"/>
          </a:xfrm>
          <a:prstGeom prst="roundRect">
            <a:avLst>
              <a:gd name="adj" fmla="val 6667"/>
            </a:avLst>
          </a:prstGeom>
          <a:solidFill>
            <a:schemeClr val="accent3"/>
          </a:solidFill>
          <a:ln/>
        </p:spPr>
        <p:txBody>
          <a:bodyPr wrap="square" lIns="762" tIns="762" rIns="762" bIns="762" rtlCol="0" anchor="ctr"/>
          <a:lstStyle/>
          <a:p>
            <a:pPr marL="0" indent="0" algn="ctr">
              <a:buNone/>
            </a:pPr>
            <a:r>
              <a:rPr lang="en-US" sz="2000" b="1" dirty="0">
                <a:solidFill>
                  <a:schemeClr val="bg1"/>
                </a:solidFill>
              </a:rPr>
              <a:t>IF</a:t>
            </a:r>
            <a:endParaRPr lang="en-US" sz="1200" dirty="0"/>
          </a:p>
          <a:p>
            <a:pPr marL="0" indent="0" algn="ctr">
              <a:buNone/>
            </a:pPr>
            <a:r>
              <a:rPr lang="en-US" sz="1200" dirty="0">
                <a:solidFill>
                  <a:schemeClr val="bg1"/>
                </a:solidFill>
              </a:rPr>
              <a:t>Fetch</a:t>
            </a:r>
            <a:endParaRPr lang="en-US" sz="1200" dirty="0"/>
          </a:p>
        </p:txBody>
      </p:sp>
      <p:sp>
        <p:nvSpPr>
          <p:cNvPr id="5" name="arrow"/>
          <p:cNvSpPr/>
          <p:nvPr/>
        </p:nvSpPr>
        <p:spPr>
          <a:xfrm>
            <a:off x="2011680" y="4069080"/>
            <a:ext cx="182880" cy="0"/>
          </a:xfrm>
          <a:prstGeom prst="line">
            <a:avLst/>
          </a:prstGeom>
          <a:noFill/>
          <a:ln w="19050">
            <a:solidFill>
              <a:schemeClr val="bg2"/>
            </a:solidFill>
            <a:prstDash val="solid"/>
            <a:tailEnd type="triangle"/>
          </a:ln>
        </p:spPr>
      </p:sp>
      <p:sp>
        <p:nvSpPr>
          <p:cNvPr id="6" name="stage-chip"/>
          <p:cNvSpPr txBox="1"/>
          <p:nvPr/>
        </p:nvSpPr>
        <p:spPr>
          <a:xfrm>
            <a:off x="2194560" y="3657600"/>
            <a:ext cx="1463040" cy="822960"/>
          </a:xfrm>
          <a:prstGeom prst="roundRect">
            <a:avLst>
              <a:gd name="adj" fmla="val 6667"/>
            </a:avLst>
          </a:prstGeom>
          <a:solidFill>
            <a:schemeClr val="accent2"/>
          </a:solidFill>
          <a:ln/>
        </p:spPr>
        <p:txBody>
          <a:bodyPr wrap="square" lIns="762" tIns="762" rIns="762" bIns="762" rtlCol="0" anchor="ctr"/>
          <a:lstStyle/>
          <a:p>
            <a:pPr marL="0" indent="0" algn="ctr">
              <a:buNone/>
            </a:pPr>
            <a:r>
              <a:rPr lang="en-US" sz="2000" b="1" dirty="0">
                <a:solidFill>
                  <a:schemeClr val="bg1"/>
                </a:solidFill>
              </a:rPr>
              <a:t>ID</a:t>
            </a:r>
            <a:endParaRPr lang="en-US" sz="1200" dirty="0"/>
          </a:p>
          <a:p>
            <a:pPr marL="0" indent="0" algn="ctr">
              <a:buNone/>
            </a:pPr>
            <a:r>
              <a:rPr lang="en-US" sz="1200" dirty="0">
                <a:solidFill>
                  <a:schemeClr val="bg1"/>
                </a:solidFill>
              </a:rPr>
              <a:t>Decode</a:t>
            </a:r>
            <a:endParaRPr lang="en-US" sz="1200" dirty="0"/>
          </a:p>
        </p:txBody>
      </p:sp>
      <p:sp>
        <p:nvSpPr>
          <p:cNvPr id="7" name="arrow"/>
          <p:cNvSpPr/>
          <p:nvPr/>
        </p:nvSpPr>
        <p:spPr>
          <a:xfrm>
            <a:off x="3657600" y="4069080"/>
            <a:ext cx="182880" cy="0"/>
          </a:xfrm>
          <a:prstGeom prst="line">
            <a:avLst/>
          </a:prstGeom>
          <a:noFill/>
          <a:ln w="19050">
            <a:solidFill>
              <a:schemeClr val="bg2"/>
            </a:solidFill>
            <a:prstDash val="solid"/>
            <a:tailEnd type="triangle"/>
          </a:ln>
        </p:spPr>
      </p:sp>
      <p:sp>
        <p:nvSpPr>
          <p:cNvPr id="8" name="stage-chip"/>
          <p:cNvSpPr txBox="1"/>
          <p:nvPr/>
        </p:nvSpPr>
        <p:spPr>
          <a:xfrm>
            <a:off x="3840480" y="3657600"/>
            <a:ext cx="1463040" cy="822960"/>
          </a:xfrm>
          <a:prstGeom prst="roundRect">
            <a:avLst>
              <a:gd name="adj" fmla="val 6667"/>
            </a:avLst>
          </a:prstGeom>
          <a:solidFill>
            <a:schemeClr val="accent1"/>
          </a:solidFill>
          <a:ln/>
        </p:spPr>
        <p:txBody>
          <a:bodyPr wrap="square" lIns="762" tIns="762" rIns="762" bIns="762" rtlCol="0" anchor="ctr"/>
          <a:lstStyle/>
          <a:p>
            <a:pPr marL="0" indent="0" algn="ctr">
              <a:buNone/>
            </a:pPr>
            <a:r>
              <a:rPr lang="en-US" sz="2000" b="1" dirty="0">
                <a:solidFill>
                  <a:schemeClr val="tx1"/>
                </a:solidFill>
              </a:rPr>
              <a:t>EX</a:t>
            </a:r>
            <a:endParaRPr lang="en-US" sz="1200" dirty="0"/>
          </a:p>
          <a:p>
            <a:pPr marL="0" indent="0" algn="ctr">
              <a:buNone/>
            </a:pPr>
            <a:r>
              <a:rPr lang="en-US" sz="1200" dirty="0">
                <a:solidFill>
                  <a:schemeClr val="tx1"/>
                </a:solidFill>
              </a:rPr>
              <a:t>Execute</a:t>
            </a:r>
            <a:endParaRPr lang="en-US" sz="1200" dirty="0"/>
          </a:p>
        </p:txBody>
      </p:sp>
      <p:sp>
        <p:nvSpPr>
          <p:cNvPr id="9" name="arrow"/>
          <p:cNvSpPr/>
          <p:nvPr/>
        </p:nvSpPr>
        <p:spPr>
          <a:xfrm>
            <a:off x="5303520" y="4069080"/>
            <a:ext cx="182880" cy="0"/>
          </a:xfrm>
          <a:prstGeom prst="line">
            <a:avLst/>
          </a:prstGeom>
          <a:noFill/>
          <a:ln w="19050">
            <a:solidFill>
              <a:schemeClr val="bg2"/>
            </a:solidFill>
            <a:prstDash val="solid"/>
            <a:tailEnd type="triangle"/>
          </a:ln>
        </p:spPr>
      </p:sp>
      <p:sp>
        <p:nvSpPr>
          <p:cNvPr id="10" name="stage-chip"/>
          <p:cNvSpPr txBox="1"/>
          <p:nvPr/>
        </p:nvSpPr>
        <p:spPr>
          <a:xfrm>
            <a:off x="5486400" y="3657600"/>
            <a:ext cx="1463040" cy="822960"/>
          </a:xfrm>
          <a:prstGeom prst="roundRect">
            <a:avLst>
              <a:gd name="adj" fmla="val 6667"/>
            </a:avLst>
          </a:prstGeom>
          <a:solidFill>
            <a:schemeClr val="accent4"/>
          </a:solidFill>
          <a:ln/>
        </p:spPr>
        <p:txBody>
          <a:bodyPr wrap="square" lIns="762" tIns="762" rIns="762" bIns="762" rtlCol="0" anchor="ctr"/>
          <a:lstStyle/>
          <a:p>
            <a:pPr marL="0" indent="0" algn="ctr">
              <a:buNone/>
            </a:pPr>
            <a:r>
              <a:rPr lang="en-US" sz="2000" b="1" dirty="0">
                <a:solidFill>
                  <a:schemeClr val="bg1"/>
                </a:solidFill>
              </a:rPr>
              <a:t>MEM</a:t>
            </a:r>
            <a:endParaRPr lang="en-US" sz="1200" dirty="0"/>
          </a:p>
          <a:p>
            <a:pPr marL="0" indent="0" algn="ctr">
              <a:buNone/>
            </a:pPr>
            <a:r>
              <a:rPr lang="en-US" sz="1200" dirty="0">
                <a:solidFill>
                  <a:schemeClr val="bg1"/>
                </a:solidFill>
              </a:rPr>
              <a:t>Memory</a:t>
            </a:r>
            <a:endParaRPr lang="en-US" sz="1200" dirty="0"/>
          </a:p>
        </p:txBody>
      </p:sp>
      <p:sp>
        <p:nvSpPr>
          <p:cNvPr id="11" name="arrow"/>
          <p:cNvSpPr/>
          <p:nvPr/>
        </p:nvSpPr>
        <p:spPr>
          <a:xfrm>
            <a:off x="6949440" y="4069080"/>
            <a:ext cx="182880" cy="0"/>
          </a:xfrm>
          <a:prstGeom prst="line">
            <a:avLst/>
          </a:prstGeom>
          <a:noFill/>
          <a:ln w="19050">
            <a:solidFill>
              <a:schemeClr val="bg2"/>
            </a:solidFill>
            <a:prstDash val="solid"/>
            <a:tailEnd type="triangle"/>
          </a:ln>
        </p:spPr>
      </p:sp>
      <p:sp>
        <p:nvSpPr>
          <p:cNvPr id="12" name="stage-chip"/>
          <p:cNvSpPr txBox="1"/>
          <p:nvPr/>
        </p:nvSpPr>
        <p:spPr>
          <a:xfrm>
            <a:off x="7132320" y="3657600"/>
            <a:ext cx="1463040" cy="822960"/>
          </a:xfrm>
          <a:prstGeom prst="roundRect">
            <a:avLst>
              <a:gd name="adj" fmla="val 6667"/>
            </a:avLst>
          </a:prstGeom>
          <a:solidFill>
            <a:schemeClr val="accent5"/>
          </a:solidFill>
          <a:ln/>
        </p:spPr>
        <p:txBody>
          <a:bodyPr wrap="square" lIns="762" tIns="762" rIns="762" bIns="762" rtlCol="0" anchor="ctr"/>
          <a:lstStyle/>
          <a:p>
            <a:pPr marL="0" indent="0" algn="ctr">
              <a:buNone/>
            </a:pPr>
            <a:r>
              <a:rPr lang="en-US" sz="2000" b="1" dirty="0">
                <a:solidFill>
                  <a:schemeClr val="bg1"/>
                </a:solidFill>
              </a:rPr>
              <a:t>WB</a:t>
            </a:r>
            <a:endParaRPr lang="en-US" sz="1200" dirty="0"/>
          </a:p>
          <a:p>
            <a:pPr marL="0" indent="0" algn="ctr">
              <a:buNone/>
            </a:pPr>
            <a:r>
              <a:rPr lang="en-US" sz="1200" dirty="0">
                <a:solidFill>
                  <a:schemeClr val="bg1"/>
                </a:solidFill>
              </a:rPr>
              <a:t>Write-back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Goals and specification</a:t>
            </a:r>
            <a:endParaRPr lang="en-US" sz="3200" dirty="0"/>
          </a:p>
        </p:txBody>
      </p:sp>
      <p:sp>
        <p:nvSpPr>
          <p:cNvPr id="4" name="text"/>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600" dirty="0">
                <a:solidFill>
                  <a:schemeClr val="tx1"/>
                </a:solidFill>
              </a:rPr>
              <a:t>Build a complete 8-bit RISC processor core that simulates, synthesizes and runs on a Xilinx FPGA.</a:t>
            </a:r>
            <a:endParaRPr lang="en-US" sz="1600" dirty="0"/>
          </a:p>
        </p:txBody>
      </p:sp>
      <p:sp>
        <p:nvSpPr>
          <p:cNvPr id="5" name="stat"/>
          <p:cNvSpPr txBox="1"/>
          <p:nvPr/>
        </p:nvSpPr>
        <p:spPr>
          <a:xfrm>
            <a:off x="457200" y="182880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8-bit</a:t>
            </a:r>
            <a:endParaRPr lang="en-US" sz="1200" dirty="0"/>
          </a:p>
          <a:p>
            <a:pPr marL="0" indent="0" algn="ctr">
              <a:buNone/>
            </a:pPr>
            <a:r>
              <a:rPr lang="en-US" sz="1300" dirty="0">
                <a:solidFill>
                  <a:schemeClr val="tx1"/>
                </a:solidFill>
              </a:rPr>
              <a:t>data, registers and ALU</a:t>
            </a:r>
            <a:endParaRPr lang="en-US" sz="1200" dirty="0"/>
          </a:p>
        </p:txBody>
      </p:sp>
      <p:sp>
        <p:nvSpPr>
          <p:cNvPr id="6" name="stat"/>
          <p:cNvSpPr txBox="1"/>
          <p:nvPr/>
        </p:nvSpPr>
        <p:spPr>
          <a:xfrm>
            <a:off x="3291840" y="182880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16-bit</a:t>
            </a:r>
            <a:endParaRPr lang="en-US" sz="1200" dirty="0"/>
          </a:p>
          <a:p>
            <a:pPr marL="0" indent="0" algn="ctr">
              <a:buNone/>
            </a:pPr>
            <a:r>
              <a:rPr lang="en-US" sz="1300" dirty="0">
                <a:solidFill>
                  <a:schemeClr val="tx1"/>
                </a:solidFill>
              </a:rPr>
              <a:t>fixed instruction width</a:t>
            </a:r>
            <a:endParaRPr lang="en-US" sz="1200" dirty="0"/>
          </a:p>
        </p:txBody>
      </p:sp>
      <p:sp>
        <p:nvSpPr>
          <p:cNvPr id="7" name="stat"/>
          <p:cNvSpPr txBox="1"/>
          <p:nvPr/>
        </p:nvSpPr>
        <p:spPr>
          <a:xfrm>
            <a:off x="6126480" y="182880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8</a:t>
            </a:r>
            <a:endParaRPr lang="en-US" sz="1200" dirty="0"/>
          </a:p>
          <a:p>
            <a:pPr marL="0" indent="0" algn="ctr">
              <a:buNone/>
            </a:pPr>
            <a:r>
              <a:rPr lang="en-US" sz="1300" dirty="0">
                <a:solidFill>
                  <a:schemeClr val="tx1"/>
                </a:solidFill>
              </a:rPr>
              <a:t>registers R0–R7</a:t>
            </a:r>
            <a:endParaRPr lang="en-US" sz="1200" dirty="0"/>
          </a:p>
        </p:txBody>
      </p:sp>
      <p:sp>
        <p:nvSpPr>
          <p:cNvPr id="8" name="stat"/>
          <p:cNvSpPr txBox="1"/>
          <p:nvPr/>
        </p:nvSpPr>
        <p:spPr>
          <a:xfrm>
            <a:off x="457200" y="329184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5 stages</a:t>
            </a:r>
            <a:endParaRPr lang="en-US" sz="1200" dirty="0"/>
          </a:p>
          <a:p>
            <a:pPr marL="0" indent="0" algn="ctr">
              <a:buNone/>
            </a:pPr>
            <a:r>
              <a:rPr lang="en-US" sz="1300" dirty="0">
                <a:solidFill>
                  <a:schemeClr val="tx1"/>
                </a:solidFill>
              </a:rPr>
              <a:t>IF · ID · EX · MEM · WB</a:t>
            </a:r>
            <a:endParaRPr lang="en-US" sz="1200" dirty="0"/>
          </a:p>
        </p:txBody>
      </p:sp>
      <p:sp>
        <p:nvSpPr>
          <p:cNvPr id="9" name="stat"/>
          <p:cNvSpPr txBox="1"/>
          <p:nvPr/>
        </p:nvSpPr>
        <p:spPr>
          <a:xfrm>
            <a:off x="3291840" y="329184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16</a:t>
            </a:r>
            <a:endParaRPr lang="en-US" sz="1200" dirty="0"/>
          </a:p>
          <a:p>
            <a:pPr marL="0" indent="0" algn="ctr">
              <a:buNone/>
            </a:pPr>
            <a:r>
              <a:rPr lang="en-US" sz="1300" dirty="0">
                <a:solidFill>
                  <a:schemeClr val="tx1"/>
                </a:solidFill>
              </a:rPr>
              <a:t>instructions (4-bit opcode)</a:t>
            </a:r>
            <a:endParaRPr lang="en-US" sz="1200" dirty="0"/>
          </a:p>
        </p:txBody>
      </p:sp>
      <p:sp>
        <p:nvSpPr>
          <p:cNvPr id="10" name="stat"/>
          <p:cNvSpPr txBox="1"/>
          <p:nvPr/>
        </p:nvSpPr>
        <p:spPr>
          <a:xfrm>
            <a:off x="6126480" y="3291840"/>
            <a:ext cx="2651760" cy="1280160"/>
          </a:xfrm>
          <a:prstGeom prst="roundRect">
            <a:avLst>
              <a:gd name="adj" fmla="val 4286"/>
            </a:avLst>
          </a:prstGeom>
          <a:solidFill>
            <a:schemeClr val="bg2"/>
          </a:solidFill>
          <a:ln/>
        </p:spPr>
        <p:txBody>
          <a:bodyPr wrap="square" lIns="762" tIns="762" rIns="762" bIns="762" rtlCol="0" anchor="ctr"/>
          <a:lstStyle/>
          <a:p>
            <a:pPr marL="0" indent="0" algn="ctr">
              <a:buNone/>
            </a:pPr>
            <a:r>
              <a:rPr lang="en-US" sz="3200" b="1" dirty="0">
                <a:solidFill>
                  <a:schemeClr val="accent2"/>
                </a:solidFill>
              </a:rPr>
              <a:t>256 B</a:t>
            </a:r>
            <a:endParaRPr lang="en-US" sz="1200" dirty="0"/>
          </a:p>
          <a:p>
            <a:pPr marL="0" indent="0" algn="ctr">
              <a:buNone/>
            </a:pPr>
            <a:r>
              <a:rPr lang="en-US" sz="1300" dirty="0">
                <a:solidFill>
                  <a:schemeClr val="tx1"/>
                </a:solidFill>
              </a:rPr>
              <a:t>data RAM; instruction ROM 256 × 16 (Harvard)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800850" cy="468749"/>
          </a:xfrm>
          <a:prstGeom prst="rect">
            <a:avLst/>
          </a:prstGeom>
          <a:noFill/>
          <a:ln/>
        </p:spPr>
        <p:txBody>
          <a:bodyPr wrap="square" lIns="0" tIns="0" rIns="0" bIns="0" rtlCol="0" anchor="ctr"/>
          <a:lstStyle/>
          <a:p>
            <a:r>
              <a:rPr lang="en-US" dirty="0"/>
              <a:t>Instruction set architecture (ISA)</a:t>
            </a:r>
            <a:endParaRPr lang="en-US" sz="3200" dirty="0"/>
          </a:p>
        </p:txBody>
      </p:sp>
      <p:sp>
        <p:nvSpPr>
          <p:cNvPr id="30" name="text"/>
          <p:cNvSpPr txBox="1"/>
          <p:nvPr/>
        </p:nvSpPr>
        <p:spPr>
          <a:xfrm>
            <a:off x="457200" y="4343400"/>
            <a:ext cx="8229600" cy="320040"/>
          </a:xfrm>
          <a:prstGeom prst="rect">
            <a:avLst/>
          </a:prstGeom>
          <a:noFill/>
          <a:ln/>
        </p:spPr>
        <p:txBody>
          <a:bodyPr wrap="square" lIns="0" tIns="0" rIns="0" bIns="0" rtlCol="0" anchor="t"/>
          <a:lstStyle/>
          <a:p>
            <a:pPr marL="0" indent="0">
              <a:buNone/>
            </a:pPr>
            <a:r>
              <a:rPr lang="en-US" sz="1400" dirty="0">
                <a:solidFill>
                  <a:schemeClr val="tx1"/>
                </a:solidFill>
              </a:rPr>
              <a:t>Encoding examples: ADD R2, R2, R1 = 0x1488 · LDI R1, 0x3C = 0x823C.</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pic>
        <p:nvPicPr>
          <p:cNvPr id="32" name="Picture 31">
            <a:extLst>
              <a:ext uri="{FF2B5EF4-FFF2-40B4-BE49-F238E27FC236}">
                <a16:creationId xmlns:a16="http://schemas.microsoft.com/office/drawing/2014/main" id="{80427AE8-52B7-F94D-8184-1731E5413FAF}"/>
              </a:ext>
            </a:extLst>
          </p:cNvPr>
          <p:cNvPicPr>
            <a:picLocks noChangeAspect="1"/>
          </p:cNvPicPr>
          <p:nvPr/>
        </p:nvPicPr>
        <p:blipFill>
          <a:blip r:embed="rId3"/>
          <a:stretch>
            <a:fillRect/>
          </a:stretch>
        </p:blipFill>
        <p:spPr>
          <a:xfrm>
            <a:off x="0" y="782895"/>
            <a:ext cx="9144000" cy="35777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8600" y="0"/>
            <a:ext cx="8229600" cy="685800"/>
          </a:xfrm>
          <a:prstGeom prst="rect">
            <a:avLst/>
          </a:prstGeom>
          <a:noFill/>
          <a:ln/>
        </p:spPr>
        <p:txBody>
          <a:bodyPr wrap="square" lIns="0" tIns="0" rIns="0" bIns="0" rtlCol="0" anchor="ctr"/>
          <a:lstStyle/>
          <a:p>
            <a:pPr marL="0" indent="0" algn="l">
              <a:buNone/>
            </a:pPr>
            <a:r>
              <a:rPr lang="en-US" sz="3200" b="1" dirty="0">
                <a:solidFill>
                  <a:schemeClr val="tx1"/>
                </a:solidFill>
              </a:rPr>
              <a:t>The complete </a:t>
            </a:r>
            <a:r>
              <a:rPr lang="en-US" sz="3200" b="1" dirty="0" err="1">
                <a:solidFill>
                  <a:schemeClr val="tx1"/>
                </a:solidFill>
              </a:rPr>
              <a:t>datapath</a:t>
            </a: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pic>
        <p:nvPicPr>
          <p:cNvPr id="22" name="Picture 21">
            <a:extLst>
              <a:ext uri="{FF2B5EF4-FFF2-40B4-BE49-F238E27FC236}">
                <a16:creationId xmlns:a16="http://schemas.microsoft.com/office/drawing/2014/main" id="{19E58541-6FC7-A0D8-D171-6D86763186CF}"/>
              </a:ext>
            </a:extLst>
          </p:cNvPr>
          <p:cNvPicPr>
            <a:picLocks noChangeAspect="1"/>
          </p:cNvPicPr>
          <p:nvPr/>
        </p:nvPicPr>
        <p:blipFill>
          <a:blip r:embed="rId3"/>
          <a:stretch>
            <a:fillRect/>
          </a:stretch>
        </p:blipFill>
        <p:spPr>
          <a:xfrm>
            <a:off x="716289" y="845347"/>
            <a:ext cx="6481109" cy="39095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endParaRPr lang="en-US" sz="3200" dirty="0"/>
          </a:p>
        </p:txBody>
      </p:sp>
      <p:pic>
        <p:nvPicPr>
          <p:cNvPr id="53" name="Picture 52">
            <a:extLst>
              <a:ext uri="{FF2B5EF4-FFF2-40B4-BE49-F238E27FC236}">
                <a16:creationId xmlns:a16="http://schemas.microsoft.com/office/drawing/2014/main" id="{58D29376-1F8B-E5D5-FD82-DF03B436DDF4}"/>
              </a:ext>
            </a:extLst>
          </p:cNvPr>
          <p:cNvPicPr>
            <a:picLocks noChangeAspect="1"/>
          </p:cNvPicPr>
          <p:nvPr/>
        </p:nvPicPr>
        <p:blipFill>
          <a:blip r:embed="rId3"/>
          <a:stretch>
            <a:fillRect/>
          </a:stretch>
        </p:blipFill>
        <p:spPr>
          <a:xfrm>
            <a:off x="0" y="106680"/>
            <a:ext cx="9144000" cy="3193576"/>
          </a:xfrm>
          <a:prstGeom prst="rect">
            <a:avLst/>
          </a:prstGeom>
        </p:spPr>
      </p:pic>
      <p:sp>
        <p:nvSpPr>
          <p:cNvPr id="4" name="TextBox 3">
            <a:extLst>
              <a:ext uri="{FF2B5EF4-FFF2-40B4-BE49-F238E27FC236}">
                <a16:creationId xmlns:a16="http://schemas.microsoft.com/office/drawing/2014/main" id="{50BB9CFD-CC16-32F0-E9B6-62B66803966C}"/>
              </a:ext>
            </a:extLst>
          </p:cNvPr>
          <p:cNvSpPr txBox="1"/>
          <p:nvPr/>
        </p:nvSpPr>
        <p:spPr>
          <a:xfrm>
            <a:off x="457200" y="3278192"/>
            <a:ext cx="7581900" cy="1323439"/>
          </a:xfrm>
          <a:prstGeom prst="rect">
            <a:avLst/>
          </a:prstGeom>
          <a:noFill/>
        </p:spPr>
        <p:txBody>
          <a:bodyPr wrap="square">
            <a:spAutoFit/>
          </a:bodyPr>
          <a:lstStyle/>
          <a:p>
            <a:pPr marL="0" indent="0">
              <a:spcAft>
                <a:spcPts val="400"/>
              </a:spcAft>
              <a:buNone/>
            </a:pPr>
            <a:r>
              <a:rPr lang="en-US" sz="1400" b="1" dirty="0">
                <a:solidFill>
                  <a:schemeClr val="tx1"/>
                </a:solidFill>
              </a:rPr>
              <a:t>Arrow 1: EX/MEM → EX.  Arrow 2: MEM/WB → EX.</a:t>
            </a:r>
            <a:endParaRPr lang="en-US" sz="1400" dirty="0"/>
          </a:p>
          <a:p>
            <a:pPr marL="0" indent="0">
              <a:spcAft>
                <a:spcPts val="400"/>
              </a:spcAft>
              <a:buNone/>
            </a:pPr>
            <a:r>
              <a:rPr lang="en-US" sz="1400" dirty="0">
                <a:solidFill>
                  <a:schemeClr val="tx1"/>
                </a:solidFill>
              </a:rPr>
              <a:t>1. If the instruction in MEM writes a register and is not a load → take its ALU result from EX/MEM (newest wins).</a:t>
            </a:r>
            <a:endParaRPr lang="en-US" sz="1400" dirty="0"/>
          </a:p>
          <a:p>
            <a:pPr marL="0" indent="0">
              <a:spcAft>
                <a:spcPts val="400"/>
              </a:spcAft>
              <a:buNone/>
            </a:pPr>
            <a:r>
              <a:rPr lang="en-US" sz="1400" dirty="0">
                <a:solidFill>
                  <a:schemeClr val="tx1"/>
                </a:solidFill>
              </a:rPr>
              <a:t>2. Otherwise, if the instruction in WB writes that register → take it from MEM/WB.</a:t>
            </a:r>
            <a:endParaRPr lang="en-US" sz="1400" dirty="0"/>
          </a:p>
          <a:p>
            <a:pPr marL="0" indent="0">
              <a:spcAft>
                <a:spcPts val="400"/>
              </a:spcAft>
              <a:buNone/>
            </a:pPr>
            <a:r>
              <a:rPr lang="en-US" sz="1400" dirty="0">
                <a:solidFill>
                  <a:schemeClr val="tx1"/>
                </a:solidFill>
              </a:rPr>
              <a:t>3. Otherwise use the value read in ID. The register file also bypasses for instructions three apart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endParaRPr lang="en-US" sz="32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pic>
        <p:nvPicPr>
          <p:cNvPr id="35" name="Picture 34">
            <a:extLst>
              <a:ext uri="{FF2B5EF4-FFF2-40B4-BE49-F238E27FC236}">
                <a16:creationId xmlns:a16="http://schemas.microsoft.com/office/drawing/2014/main" id="{919D93CE-FDB3-A5F8-25A2-B2F423B31D8A}"/>
              </a:ext>
            </a:extLst>
          </p:cNvPr>
          <p:cNvPicPr>
            <a:picLocks noChangeAspect="1"/>
          </p:cNvPicPr>
          <p:nvPr/>
        </p:nvPicPr>
        <p:blipFill>
          <a:blip r:embed="rId3"/>
          <a:stretch>
            <a:fillRect/>
          </a:stretch>
        </p:blipFill>
        <p:spPr>
          <a:xfrm>
            <a:off x="235511" y="838200"/>
            <a:ext cx="8821721" cy="3238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pic>
        <p:nvPicPr>
          <p:cNvPr id="13" name="Picture 12">
            <a:extLst>
              <a:ext uri="{FF2B5EF4-FFF2-40B4-BE49-F238E27FC236}">
                <a16:creationId xmlns:a16="http://schemas.microsoft.com/office/drawing/2014/main" id="{12B58E3C-6936-34F0-B685-5CED934E4D32}"/>
              </a:ext>
            </a:extLst>
          </p:cNvPr>
          <p:cNvPicPr>
            <a:picLocks noChangeAspect="1"/>
          </p:cNvPicPr>
          <p:nvPr/>
        </p:nvPicPr>
        <p:blipFill>
          <a:blip r:embed="rId3"/>
          <a:stretch>
            <a:fillRect/>
          </a:stretch>
        </p:blipFill>
        <p:spPr>
          <a:xfrm>
            <a:off x="122642" y="274320"/>
            <a:ext cx="8898716" cy="3368040"/>
          </a:xfrm>
          <a:prstGeom prst="rect">
            <a:avLst/>
          </a:prstGeom>
        </p:spPr>
      </p:pic>
    </p:spTree>
  </p:cSld>
  <p:clrMapOvr>
    <a:masterClrMapping/>
  </p:clrMapOvr>
</p:sld>
</file>

<file path=ppt/theme/theme1.xml><?xml version="1.0" encoding="utf-8"?>
<a:theme xmlns:a="http://schemas.openxmlformats.org/drawingml/2006/main" name="Silicon Teal">
  <a:themeElements>
    <a:clrScheme name="Silicon Teal">
      <a:dk1>
        <a:srgbClr val="0E2A2F"/>
      </a:dk1>
      <a:lt1>
        <a:srgbClr val="FFFFFF"/>
      </a:lt1>
      <a:dk2>
        <a:srgbClr val="1F7A7A"/>
      </a:dk2>
      <a:lt2>
        <a:srgbClr val="E8F3F0"/>
      </a:lt2>
      <a:accent1>
        <a:srgbClr val="F2A33A"/>
      </a:accent1>
      <a:accent2>
        <a:srgbClr val="1F7A7A"/>
      </a:accent2>
      <a:accent3>
        <a:srgbClr val="4F7CAC"/>
      </a:accent3>
      <a:accent4>
        <a:srgbClr val="7B63B0"/>
      </a:accent4>
      <a:accent5>
        <a:srgbClr val="C2506A"/>
      </a:accent5>
      <a:accent6>
        <a:srgbClr val="55656A"/>
      </a:accent6>
      <a:hlink>
        <a:srgbClr val="1F7A7A"/>
      </a:hlink>
      <a:folHlink>
        <a:srgbClr val="7B63B0"/>
      </a:folHlink>
    </a:clrScheme>
    <a:fontScheme name="Silicon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TotalTime>
  <Words>553</Words>
  <Application>Microsoft Office PowerPoint</Application>
  <PresentationFormat>On-screen Show (16:9)</PresentationFormat>
  <Paragraphs>53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Silicon Teal</vt:lpstr>
      <vt:lpstr>8-bit RISC CPU with a 5-stage pipeline</vt:lpstr>
      <vt:lpstr>Goals and specification</vt:lpstr>
      <vt:lpstr>Instruction set architecture (ISA)</vt:lpstr>
      <vt:lpstr>The complete datapath</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8-bit RISC CPU with a 5-stage pipeline</dc:title>
  <dc:subject>Verilog design in Vivado</dc:subject>
  <dc:creator>PptxGenJS</dc:creator>
  <cp:lastModifiedBy>Duy Tiến</cp:lastModifiedBy>
  <cp:revision>4</cp:revision>
  <dcterms:created xsi:type="dcterms:W3CDTF">2026-10-22T08:14:33Z</dcterms:created>
  <dcterms:modified xsi:type="dcterms:W3CDTF">2026-10-23T09:10:47Z</dcterms:modified>
</cp:coreProperties>
</file>